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.png"/><Relationship Id="rId12" Type="http://schemas.openxmlformats.org/officeDocument/2006/relationships/image" Target="../media/image-6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9372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Global Numerology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49313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C9A94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science of numbers applied to your success.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69607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Business Presentation for Investors &amp; Strategic Partners — August 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1864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About A1ELOS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1056233"/>
            <a:ext cx="2458864" cy="171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Assessoria e Consultoria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technology and knowledge holding company focused on high-performance numerology. We operate a sophisticated global platform that integrates millennia of numerical wisdom with cutting-edge Artificial Intelligence, delivering actionable insights to individuals, families, and corporations worldwide.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875955"/>
            <a:ext cx="2458864" cy="183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specialized products and services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covering every life and business dimension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languages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pricing adapted to each market's currency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~4 billion native speakers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our addressable market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digital delivery — scalable, borderless, and low-cost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176885" y="955030"/>
            <a:ext cx="2137618" cy="3796605"/>
          </a:xfrm>
          <a:prstGeom prst="roundRect">
            <a:avLst>
              <a:gd name="adj" fmla="val 4253"/>
            </a:avLst>
          </a:prstGeom>
          <a:solidFill>
            <a:srgbClr val="C9A94E"/>
          </a:solidFill>
          <a:ln/>
        </p:spPr>
      </p:sp>
      <p:sp>
        <p:nvSpPr>
          <p:cNvPr id="7" name="Text 4"/>
          <p:cNvSpPr/>
          <p:nvPr/>
        </p:nvSpPr>
        <p:spPr>
          <a:xfrm>
            <a:off x="3303091" y="1067470"/>
            <a:ext cx="188520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Mission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03091" y="1377181"/>
            <a:ext cx="1885206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democratize the science of numbers, making numerological intelligence accessible to every culture, language, and market on earth — empowering decisions through ancient wisdom amplified by modern AI.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371"/>
            <a:ext cx="8151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9A94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International 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708868"/>
            <a:ext cx="8151763" cy="105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650" b="1" dirty="0">
                <a:solidFill>
                  <a:srgbClr val="272525"/>
                </a:solidFill>
                <a:highlight>
                  <a:srgbClr val="C9A94E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942242668</a:t>
            </a:r>
            <a:endParaRPr lang="en-US" sz="6650" dirty="0"/>
          </a:p>
        </p:txBody>
      </p:sp>
      <p:sp>
        <p:nvSpPr>
          <p:cNvPr id="4" name="Text 2"/>
          <p:cNvSpPr/>
          <p:nvPr/>
        </p:nvSpPr>
        <p:spPr>
          <a:xfrm>
            <a:off x="496119" y="1902916"/>
            <a:ext cx="8151763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Number — Dun &amp; Bradstreet (D&amp;B)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67519" y="2320305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holds the universally recognized D&amp;B DUNS identifier, establishing our institutional credibility in every major economy on earth.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2583879"/>
            <a:ext cx="4030861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3842" y="2701603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Globally Verified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3842" y="2932063"/>
            <a:ext cx="379541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credentials are recognized by governments, banks, and corporations in over 190 countries.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6946" y="2583879"/>
            <a:ext cx="4030935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4669" y="2701603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B2B Homologation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4669" y="2932063"/>
            <a:ext cx="379548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valid for corporate contract qualification, procurement, and supplier onboarding processes.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3464496"/>
            <a:ext cx="4030861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842" y="3582219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 Ventures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3842" y="3812679"/>
            <a:ext cx="379541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cross-border partnerships and international joint ventures with institutional confidence.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6946" y="3464496"/>
            <a:ext cx="4030935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4669" y="3582219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Transparency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4669" y="3812679"/>
            <a:ext cx="379548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full transparency in international financial and commercial transactions.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6119" y="4356348"/>
            <a:ext cx="8151763" cy="389706"/>
          </a:xfrm>
          <a:prstGeom prst="roundRect">
            <a:avLst>
              <a:gd name="adj" fmla="val 12175"/>
            </a:avLst>
          </a:prstGeom>
          <a:solidFill>
            <a:srgbClr val="DADBF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79" y="4508153"/>
            <a:ext cx="141163" cy="11296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3203" y="4474518"/>
            <a:ext cx="8128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DUNS 942242668 is A1ELOS's trust seal — your guarantee of a verified, credible, and institutionally recognized global partner.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46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89855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Market Opportunity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5119" y="1018431"/>
            <a:ext cx="2725564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$14.3B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925119" y="1504206"/>
            <a:ext cx="272556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Market 2024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925119" y="1763688"/>
            <a:ext cx="272556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Astrology &amp; numerology sector, growing at ~6% CAGR toward US$27B by 2035.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2307580"/>
            <a:ext cx="2725564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$4.7B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3925119" y="2793355"/>
            <a:ext cx="272556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Apps 2025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25119" y="3052837"/>
            <a:ext cx="272556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Astrology and AI-powered apps, projected to reach US$11.7B by 2030 at 20% CAGR.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25119" y="3596729"/>
            <a:ext cx="2725564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$1.4B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3925119" y="4082504"/>
            <a:ext cx="272556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North America 2025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25119" y="4341986"/>
            <a:ext cx="272556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 American segment alone, growing at 12.5% annually — a high-priority target market.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925568" y="952202"/>
            <a:ext cx="172700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Now?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25568" y="1211684"/>
            <a:ext cx="1727002" cy="244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intersection of ancient numerological tradition with AI-driven personalization is creating a new consumer category. Millennials and Gen Z are driving demand for meaningful, data-backed self-discovery tools — and they're willing to pay premium prices for authenticity and precision.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is positioned at the exact center of this convergence — already operational, multilingual, and institutionally verified.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885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Portfolio — 15 Offerings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75333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product is delivered digitally as a personalized PDF report, ensuring zero inventory costs and unlimited global scalability. Average ticket: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US$6.00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082278"/>
            <a:ext cx="8151763" cy="3624263"/>
          </a:xfrm>
          <a:prstGeom prst="roundRect">
            <a:avLst>
              <a:gd name="adj" fmla="val 112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310878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537097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1763316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1989534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215753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2441972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2668191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2894409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3120628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6119" y="3346847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6119" y="3573066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6119" y="3799284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6119" y="4025503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6119" y="4251722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96119" y="4477941"/>
            <a:ext cx="8151763" cy="609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1030" y="1087041"/>
            <a:ext cx="407045" cy="223838"/>
          </a:xfrm>
          <a:custGeom>
            <a:avLst/>
            <a:gdLst/>
            <a:ahLst/>
            <a:cxnLst/>
            <a:rect l="l" t="t" r="r" b="b"/>
            <a:pathLst>
              <a:path w="407045" h="223838">
                <a:moveTo>
                  <a:pt x="34113" y="0"/>
                </a:moveTo>
                <a:lnTo>
                  <a:pt x="407045" y="0"/>
                </a:lnTo>
                <a:lnTo>
                  <a:pt x="407045" y="223838"/>
                </a:lnTo>
                <a:lnTo>
                  <a:pt x="0" y="223838"/>
                </a:lnTo>
                <a:lnTo>
                  <a:pt x="0" y="34113"/>
                </a:lnTo>
                <a:arcTo hR="34113" wR="34113" stAng="10800000" swAng="5400000"/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21" name="Text 19"/>
          <p:cNvSpPr/>
          <p:nvPr/>
        </p:nvSpPr>
        <p:spPr>
          <a:xfrm>
            <a:off x="598438" y="1131987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#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08075" y="1087041"/>
            <a:ext cx="3664000" cy="22383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483" y="1131987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/ Service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74" y="1087041"/>
            <a:ext cx="1628403" cy="22383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9482" y="1131987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Price (USD)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00477" y="1087041"/>
            <a:ext cx="2442642" cy="223838"/>
          </a:xfrm>
          <a:custGeom>
            <a:avLst/>
            <a:gdLst/>
            <a:ahLst/>
            <a:cxnLst/>
            <a:rect l="l" t="t" r="r" b="b"/>
            <a:pathLst>
              <a:path w="2442642" h="223838">
                <a:moveTo>
                  <a:pt x="0" y="0"/>
                </a:moveTo>
                <a:lnTo>
                  <a:pt x="2408529" y="0"/>
                </a:lnTo>
                <a:arcTo hR="34113" wR="34113" stAng="16200000" swAng="5400000"/>
                <a:lnTo>
                  <a:pt x="2442642" y="223838"/>
                </a:lnTo>
                <a:lnTo>
                  <a:pt x="0" y="223838"/>
                </a:lnTo>
                <a:lnTo>
                  <a:pt x="0" y="0"/>
                </a:lnTo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27" name="Text 25"/>
          <p:cNvSpPr/>
          <p:nvPr/>
        </p:nvSpPr>
        <p:spPr>
          <a:xfrm>
            <a:off x="6297885" y="1131987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8438" y="1358205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05483" y="1358205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Map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69482" y="1358205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US$1.60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97885" y="1358205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Basics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98438" y="1584424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05483" y="1584424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Phase / Year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9482" y="1584424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US$1.60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97885" y="1584424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Basics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98438" y="1810643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5483" y="1810643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Map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69482" y="1810643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US$3.40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97885" y="1810643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Advanced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8438" y="2036862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05483" y="2036862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Name Search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69482" y="2036862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US$3.40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97885" y="2036862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8438" y="2263080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05483" y="2263080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Ballot Name Validation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69482" y="2263080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US$5.20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97885" y="2263080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98438" y="2489299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05483" y="2489299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Electoral Number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69482" y="2489299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US$5.20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97885" y="2489299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8438" y="2715518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05483" y="2715518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Number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69482" y="2715518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US$5.20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97885" y="2715518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98438" y="2941737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005483" y="2941737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Energy Calendar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669482" y="2941737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US$5.20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97885" y="2941737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8438" y="3167955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05483" y="3167955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Artistic Name Validation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69482" y="3167955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US$7.00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97885" y="3167955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98438" y="3394174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05483" y="3394174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Baby Name Planning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669482" y="3394174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US$7.00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97885" y="3394174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98438" y="3620393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05483" y="3620393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Validation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669482" y="3620393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US$7.00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297885" y="3620393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98438" y="3846612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05483" y="3846612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/ Product Name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669482" y="3846612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US$8.80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297885" y="3846612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98438" y="4072830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005483" y="4072830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 Map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669482" y="4072830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US$8.80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297885" y="4072830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98438" y="4299049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005483" y="4299049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Family Map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669482" y="4299049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US$19.60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297885" y="4299049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Family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98438" y="4525268"/>
            <a:ext cx="669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005483" y="4525268"/>
            <a:ext cx="392638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/ Business Bonus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669482" y="4525268"/>
            <a:ext cx="189078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on Request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297885" y="4525268"/>
            <a:ext cx="270502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B2B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08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Reach — 12 Languages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04429"/>
            <a:ext cx="8151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addresses a combined native-speaker market of approximately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billion people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prices adapted to the purchasing power and dominant currency of each region.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304479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377" y="141773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🇨🇳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Chinese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377" y="1641872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 Billion speakers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13523" y="1304479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6781" y="141773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🇮🇳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Hindi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6781" y="1641872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 Billion speakers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6119" y="1991469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377" y="210472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🇪🇸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Spanish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377" y="2328863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 Billion speakers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3523" y="1991469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6781" y="210472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🇺🇸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English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6781" y="2328863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Billion speakers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6119" y="2678460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377" y="2791718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🇸🇦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Arabic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377" y="3015853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0.37 Billion speakers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3523" y="2678460"/>
            <a:ext cx="4034358" cy="603945"/>
          </a:xfrm>
          <a:prstGeom prst="roundRect">
            <a:avLst>
              <a:gd name="adj" fmla="val 75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6781" y="2791718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🇷🇺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Russian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6781" y="3015853"/>
            <a:ext cx="380784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0.26 Billion speakers</a:t>
            </a:r>
            <a:endParaRPr lang="en-US" sz="8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375868"/>
            <a:ext cx="4034358" cy="40079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9377" y="348912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🇧🇷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Portuguese — 0.26B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523" y="3375868"/>
            <a:ext cx="4034358" cy="4007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26781" y="348912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🇯🇵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Japanese — 0.13B</a:t>
            </a:r>
            <a:endParaRPr lang="en-US" sz="10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859709"/>
            <a:ext cx="4034358" cy="4007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9377" y="397296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🇩🇪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German — 0.13B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3523" y="3859709"/>
            <a:ext cx="4034358" cy="40079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26781" y="397296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🇫🇷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French — 0.08B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4343549"/>
            <a:ext cx="4034358" cy="40079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9377" y="445680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🇮🇹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Italian — 0.07B</a:t>
            </a:r>
            <a:endParaRPr lang="en-US" sz="10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3523" y="4343549"/>
            <a:ext cx="4034358" cy="4007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26781" y="4456807"/>
            <a:ext cx="380784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🇮🇱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Hebrew — 0.05B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964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Advantages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09811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is built on four structural pillars that no single competitor currently replicates in combination — creating a formidable moat in the global numerology market.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921"/>
            <a:ext cx="1111969" cy="6872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525092"/>
            <a:ext cx="1917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Linguistic Scalability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813447"/>
            <a:ext cx="191720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12-language infrastructure opens a market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10x larger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typical Portuguese or English-only platforms. Each language version is culturally and numerologically adapted for local resonance.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280" y="1676921"/>
            <a:ext cx="1111969" cy="6872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4280" y="2525092"/>
            <a:ext cx="1917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Analysis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574280" y="2813447"/>
            <a:ext cx="1917204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AI applied to name suggestions, vibrational analysis, and report generation — operating in a segment growing at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 per year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a significant competitive moat.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442" y="1676921"/>
            <a:ext cx="1111969" cy="6872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52442" y="2525092"/>
            <a:ext cx="191720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Institutional B2B Credibility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652442" y="3024560"/>
            <a:ext cx="191720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Corporate Bonus product, backed by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942242668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enables enterprise contracts with HR departments, marketing agencies, and multinational corporations seeking numerological advisory.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603" y="1676921"/>
            <a:ext cx="1111969" cy="6872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0603" y="2525092"/>
            <a:ext cx="191727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30603" y="2813447"/>
            <a:ext cx="1917278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15 products are delivered as digital PDFs —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inventory, zero logistics, near-zero marginal cost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additional sale flows almost entirely to the bottom line, enabling exceptional margin scaling.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6136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Model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028774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operates three synergistic revenue streams, each reinforcing the others and collectively de-risking the overall revenue profile.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481435"/>
            <a:ext cx="586978" cy="9914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09281" y="1598786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B2C Direct Sales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609281" y="1840483"/>
            <a:ext cx="403860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numerology reports sold directly to end consumers through our global multilingual platform. Low price point drives high volume; AI personalization drives retention and word-of-mouth referrals.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2472854"/>
            <a:ext cx="586978" cy="11630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9281" y="2590205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B2B Corporate Bonus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609281" y="2831902"/>
            <a:ext cx="403860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Customized enterprise numerology packages for HR teams, marketing departments, and corporate clients. Bespoke scope and pricing with progressive volume discounts, underpinned by DUNS-verified credibility.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3635946"/>
            <a:ext cx="586978" cy="9914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09281" y="3753296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Geolocated Advertising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609281" y="3994993"/>
            <a:ext cx="403860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banner placements segmented by country, continent, or worldwide audience. Fixed and time-limited contracts available, with contractually assured annual price adjustment provisions.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 Rate Card — Advertising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24161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offers brands, agencies, and media buyers premium, numerology-audience-targeted advertising placements with guaranteed visibility across our 12-language global platform.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46994"/>
            <a:ext cx="8151763" cy="1753865"/>
          </a:xfrm>
          <a:prstGeom prst="roundRect">
            <a:avLst>
              <a:gd name="adj" fmla="val 30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99196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49016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98837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48657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943597" y="1546994"/>
            <a:ext cx="8030" cy="175386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93358" y="1546994"/>
            <a:ext cx="8030" cy="175386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0955" y="1551756"/>
            <a:ext cx="2442642" cy="347439"/>
          </a:xfrm>
          <a:custGeom>
            <a:avLst/>
            <a:gdLst/>
            <a:ahLst/>
            <a:cxnLst/>
            <a:rect l="l" t="t" r="r" b="b"/>
            <a:pathLst>
              <a:path w="2442642" h="347439">
                <a:moveTo>
                  <a:pt x="44967" y="0"/>
                </a:moveTo>
                <a:lnTo>
                  <a:pt x="2442642" y="0"/>
                </a:lnTo>
                <a:lnTo>
                  <a:pt x="2442642" y="347439"/>
                </a:lnTo>
                <a:lnTo>
                  <a:pt x="0" y="347439"/>
                </a:lnTo>
                <a:lnTo>
                  <a:pt x="0" y="44967"/>
                </a:lnTo>
                <a:arcTo hR="44967" wR="44967" stAng="10800000" swAng="5400000"/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12" name="Text 10"/>
          <p:cNvSpPr/>
          <p:nvPr/>
        </p:nvSpPr>
        <p:spPr>
          <a:xfrm>
            <a:off x="629394" y="1626319"/>
            <a:ext cx="264058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Targeting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43597" y="1551756"/>
            <a:ext cx="2849761" cy="347439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2"/>
          <p:cNvSpPr/>
          <p:nvPr/>
        </p:nvSpPr>
        <p:spPr>
          <a:xfrm>
            <a:off x="3074417" y="1626319"/>
            <a:ext cx="30453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Banner (Monthly)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93358" y="1551756"/>
            <a:ext cx="2849761" cy="347439"/>
          </a:xfrm>
          <a:custGeom>
            <a:avLst/>
            <a:gdLst/>
            <a:ahLst/>
            <a:cxnLst/>
            <a:rect l="l" t="t" r="r" b="b"/>
            <a:pathLst>
              <a:path w="2849761" h="347439">
                <a:moveTo>
                  <a:pt x="0" y="0"/>
                </a:moveTo>
                <a:lnTo>
                  <a:pt x="2804794" y="0"/>
                </a:lnTo>
                <a:arcTo hR="44967" wR="44967" stAng="16200000" swAng="5400000"/>
                <a:lnTo>
                  <a:pt x="2849761" y="347439"/>
                </a:lnTo>
                <a:lnTo>
                  <a:pt x="0" y="347439"/>
                </a:lnTo>
                <a:lnTo>
                  <a:pt x="0" y="0"/>
                </a:lnTo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16" name="Text 14"/>
          <p:cNvSpPr/>
          <p:nvPr/>
        </p:nvSpPr>
        <p:spPr>
          <a:xfrm>
            <a:off x="5924178" y="1626319"/>
            <a:ext cx="30477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Temporary (Campaign)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394" y="1976140"/>
            <a:ext cx="264058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74417" y="1976140"/>
            <a:ext cx="30453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US$160 / 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24178" y="1976140"/>
            <a:ext cx="30477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US$100 / 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394" y="2325960"/>
            <a:ext cx="264058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74417" y="2325960"/>
            <a:ext cx="30453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US$360 / month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4178" y="2325960"/>
            <a:ext cx="30477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US$240 / 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394" y="2675781"/>
            <a:ext cx="264058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Worldwide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74417" y="2675781"/>
            <a:ext cx="30453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US$700 /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24178" y="2675781"/>
            <a:ext cx="30477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US$500 / month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394" y="3025601"/>
            <a:ext cx="264058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Exclusive Sponsorship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74417" y="3025601"/>
            <a:ext cx="30453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US$1,200 / month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24178" y="3025601"/>
            <a:ext cx="30477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US$900 / campaign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119" y="3548211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Banners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6119" y="3865290"/>
            <a:ext cx="3919165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value for sustained, always-on brand exposure. Ideal for brands seeking continuous presence with a globally engaged, spiritually curious, high-intent audience.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3479" y="3548211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Temporary Campaigns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33479" y="3865290"/>
            <a:ext cx="391916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30, 60, or 90-day campaign windows at a more accessible entry price. Perfect for product launches, seasonal promotions, and new-market entry strategies. Annual price updates contractually assured.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3984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1 Financial Projections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243831"/>
            <a:ext cx="1558603" cy="205234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77155" y="1284312"/>
            <a:ext cx="1853729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SCENARIO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119" y="1738833"/>
            <a:ext cx="4759151" cy="1946523"/>
          </a:xfrm>
          <a:prstGeom prst="roundRect">
            <a:avLst>
              <a:gd name="adj" fmla="val 29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121098"/>
            <a:ext cx="4759151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00982"/>
            <a:ext cx="4759151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91979"/>
            <a:ext cx="4759151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1104" y="1743596"/>
            <a:ext cx="1187351" cy="377503"/>
          </a:xfrm>
          <a:custGeom>
            <a:avLst/>
            <a:gdLst/>
            <a:ahLst/>
            <a:cxnLst/>
            <a:rect l="l" t="t" r="r" b="b"/>
            <a:pathLst>
              <a:path w="1187351" h="377503">
                <a:moveTo>
                  <a:pt x="47293" y="0"/>
                </a:moveTo>
                <a:lnTo>
                  <a:pt x="1187351" y="0"/>
                </a:lnTo>
                <a:lnTo>
                  <a:pt x="1187351" y="377503"/>
                </a:lnTo>
                <a:lnTo>
                  <a:pt x="0" y="377503"/>
                </a:lnTo>
                <a:lnTo>
                  <a:pt x="0" y="47293"/>
                </a:lnTo>
                <a:arcTo hR="47293" wR="47293" stAng="10800000" swAng="5400000"/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10" name="Text 8"/>
          <p:cNvSpPr/>
          <p:nvPr/>
        </p:nvSpPr>
        <p:spPr>
          <a:xfrm>
            <a:off x="636166" y="1825600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Period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88455" y="1743596"/>
            <a:ext cx="1187351" cy="377503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3517" y="1825600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75806" y="1743596"/>
            <a:ext cx="1187351" cy="377503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2"/>
          <p:cNvSpPr/>
          <p:nvPr/>
        </p:nvSpPr>
        <p:spPr>
          <a:xfrm>
            <a:off x="3010867" y="1825600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63157" y="1743596"/>
            <a:ext cx="1187351" cy="377503"/>
          </a:xfrm>
          <a:custGeom>
            <a:avLst/>
            <a:gdLst/>
            <a:ahLst/>
            <a:cxnLst/>
            <a:rect l="l" t="t" r="r" b="b"/>
            <a:pathLst>
              <a:path w="1187351" h="377503">
                <a:moveTo>
                  <a:pt x="0" y="0"/>
                </a:moveTo>
                <a:lnTo>
                  <a:pt x="1140058" y="0"/>
                </a:lnTo>
                <a:arcTo hR="47293" wR="47293" stAng="16200000" swAng="5400000"/>
                <a:lnTo>
                  <a:pt x="1187351" y="377503"/>
                </a:lnTo>
                <a:lnTo>
                  <a:pt x="0" y="377503"/>
                </a:lnTo>
                <a:lnTo>
                  <a:pt x="0" y="0"/>
                </a:lnTo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16" name="Text 14"/>
          <p:cNvSpPr/>
          <p:nvPr/>
        </p:nvSpPr>
        <p:spPr>
          <a:xfrm>
            <a:off x="4198218" y="1825600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6166" y="220548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3517" y="220548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300–800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0867" y="220548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3–12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98218" y="220548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US$18–72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166" y="2585368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3517" y="2585368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9,000–24,000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0867" y="2585368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90–360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98218" y="2585368"/>
            <a:ext cx="91722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US$540–2,160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6166" y="317636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23517" y="317636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110K–290K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0867" y="3176364"/>
            <a:ext cx="13744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1,100–4,300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98218" y="3176364"/>
            <a:ext cx="91722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US$6,600–26,000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119" y="3830241"/>
            <a:ext cx="47591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projections reflect organic growth only — no paid advertising. Conversion rates are conservatively modeled at 1–1.5% of total visitors, consistent with digital content commerce benchmarks.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92353" y="1593949"/>
            <a:ext cx="3257550" cy="2985492"/>
          </a:xfrm>
          <a:prstGeom prst="roundRect">
            <a:avLst>
              <a:gd name="adj" fmla="val 3259"/>
            </a:avLst>
          </a:prstGeom>
          <a:solidFill>
            <a:srgbClr val="C9A94E"/>
          </a:solidFill>
          <a:ln/>
        </p:spPr>
      </p:sp>
      <p:sp>
        <p:nvSpPr>
          <p:cNvPr id="31" name="Text 29"/>
          <p:cNvSpPr/>
          <p:nvPr/>
        </p:nvSpPr>
        <p:spPr>
          <a:xfrm>
            <a:off x="5627415" y="1722686"/>
            <a:ext cx="29874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Optimistic Scenario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7415" y="2062535"/>
            <a:ext cx="298742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paid traffic campaigns and strategic partner activations, annual revenue can reach: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27415" y="2613496"/>
            <a:ext cx="2987427" cy="582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US$200,000</a:t>
            </a:r>
            <a:endParaRPr lang="en-US" sz="3650" dirty="0"/>
          </a:p>
        </p:txBody>
      </p:sp>
      <p:sp>
        <p:nvSpPr>
          <p:cNvPr id="34" name="Text 32"/>
          <p:cNvSpPr/>
          <p:nvPr/>
        </p:nvSpPr>
        <p:spPr>
          <a:xfrm>
            <a:off x="5627415" y="3324969"/>
            <a:ext cx="298742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Year 1 alone — driven by targeted ads, affiliate channels, and B2B contract activations.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790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 Vision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38882"/>
            <a:ext cx="8151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is designed for compounding growth — each year building brand equity, language depth, AI capability, and institutional partnerships that make the next milestone more achievable than the last.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78074"/>
            <a:ext cx="1018952" cy="633264"/>
          </a:xfrm>
          <a:prstGeom prst="roundRect">
            <a:avLst>
              <a:gd name="adj" fmla="val 76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4595" y="1593503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30189" y="1493193"/>
            <a:ext cx="690257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1–2: Launch &amp;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30189" y="1729234"/>
            <a:ext cx="690257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live in 12 languages, organic revenue, first B2B contracts, DUNS-backed credibility established.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72592" y="2005385"/>
            <a:ext cx="7017767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068860"/>
            <a:ext cx="2037904" cy="800249"/>
          </a:xfrm>
          <a:prstGeom prst="roundRect">
            <a:avLst>
              <a:gd name="adj" fmla="val 604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4108" y="2367781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49141" y="2183978"/>
            <a:ext cx="588362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5: US$100K–$300K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49141" y="2420020"/>
            <a:ext cx="588362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consolidation across key Western and LATAM markets. AI tools mature. Advertising revenue stream fully operational with recurring brand clients.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91544" y="2863155"/>
            <a:ext cx="5998815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119" y="2926631"/>
            <a:ext cx="3056855" cy="800249"/>
          </a:xfrm>
          <a:prstGeom prst="roundRect">
            <a:avLst>
              <a:gd name="adj" fmla="val 604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3546" y="3225552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68092" y="3041749"/>
            <a:ext cx="486467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10: US$600K–$1.6M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68092" y="3277791"/>
            <a:ext cx="48646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in Asian and Western markets. Corporate Bonus product generating significant B2B revenue. Joint ventures active across multiple continents.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0496" y="3720926"/>
            <a:ext cx="4979863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9" name="Shape 17"/>
          <p:cNvSpPr/>
          <p:nvPr/>
        </p:nvSpPr>
        <p:spPr>
          <a:xfrm>
            <a:off x="496119" y="3784402"/>
            <a:ext cx="4075881" cy="967234"/>
          </a:xfrm>
          <a:prstGeom prst="roundRect">
            <a:avLst>
              <a:gd name="adj" fmla="val 5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3060" y="4166815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87119" y="3899520"/>
            <a:ext cx="384564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20: US$3M–$8M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7119" y="4135562"/>
            <a:ext cx="3845644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global numerology consulting ecosystem — the definitive authority in AI-powered numerical intelligence for individuals, families, and enterprises worldwide.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Partnership Opportunities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33686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welcomes investors, media groups, technology partners, and international brands to join a high-growth platform at the intersection of ancient wisdom and modern AI.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6519"/>
            <a:ext cx="4017690" cy="1535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95" y="1699245"/>
            <a:ext cx="36750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 &amp; Advertising Partners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5995" y="1969740"/>
            <a:ext cx="367508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a globally segmented, spiritually engaged audience through our geolocated banner placements. Country, continent, or worldwide targeting — fixed or campaign-based contracts. Ideal for lifestyle, wellness, finance, and self-development brands.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0192" y="1556519"/>
            <a:ext cx="4017690" cy="15356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0068" y="1699245"/>
            <a:ext cx="36750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B2B Expansion — Corporate Networks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830068" y="1969740"/>
            <a:ext cx="367508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consultancies, executive coaching firms, and marketing agencies can white-label or co-sell the Corporate Bonus product to their client base. Progressive volume discounts and custom scope make it highly flexible for enterprise distribution.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08511"/>
            <a:ext cx="4017690" cy="15356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5995" y="3351237"/>
            <a:ext cx="36750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International Joint Ventures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95995" y="3621732"/>
            <a:ext cx="367508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DUNS 942242668 makes A1ELOS immediately eligible for cross-border business agreements. We actively seek regional master licensees, language-market operators, and platform co-development partners in Asia, the Middle East, and North America.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0192" y="3208511"/>
            <a:ext cx="4017690" cy="15356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0068" y="3351237"/>
            <a:ext cx="36750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Co-Development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830068" y="3621732"/>
            <a:ext cx="367508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investors and AI labs are invited to co-develop next-generation numerological intelligence tools — expanding the product portfolio and deepening the platform's proprietary moat in an underserved and rapidly growing market.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4681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Global Numerology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937320"/>
            <a:ext cx="4722763" cy="151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C9A94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science of numbers applied to your success.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496119" y="2631132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784053"/>
            <a:ext cx="4722763" cy="1649016"/>
          </a:xfrm>
          <a:prstGeom prst="roundRect">
            <a:avLst>
              <a:gd name="adj" fmla="val 29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2788816"/>
            <a:ext cx="2356619" cy="819745"/>
          </a:xfrm>
          <a:custGeom>
            <a:avLst/>
            <a:gdLst/>
            <a:ahLst/>
            <a:cxnLst/>
            <a:rect l="l" t="t" r="r" b="b"/>
            <a:pathLst>
              <a:path w="2356619" h="819745">
                <a:moveTo>
                  <a:pt x="41090" y="0"/>
                </a:moveTo>
                <a:lnTo>
                  <a:pt x="2356619" y="0"/>
                </a:lnTo>
                <a:lnTo>
                  <a:pt x="2356619" y="819745"/>
                </a:lnTo>
                <a:lnTo>
                  <a:pt x="0" y="819745"/>
                </a:lnTo>
                <a:lnTo>
                  <a:pt x="0" y="41090"/>
                </a:lnTo>
                <a:arcTo hR="41090" wR="41090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618232" y="2906167"/>
            <a:ext cx="212191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Number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8232" y="3147864"/>
            <a:ext cx="212191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942242668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 &amp; Bradstreet — Globally Verified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57500" y="2788816"/>
            <a:ext cx="2356619" cy="819745"/>
          </a:xfrm>
          <a:custGeom>
            <a:avLst/>
            <a:gdLst/>
            <a:ahLst/>
            <a:cxnLst/>
            <a:rect l="l" t="t" r="r" b="b"/>
            <a:pathLst>
              <a:path w="2356619" h="819745">
                <a:moveTo>
                  <a:pt x="0" y="0"/>
                </a:moveTo>
                <a:lnTo>
                  <a:pt x="2315529" y="0"/>
                </a:lnTo>
                <a:arcTo hR="41090" wR="41090" stAng="16200000" swAng="5400000"/>
                <a:lnTo>
                  <a:pt x="2356619" y="819745"/>
                </a:lnTo>
                <a:lnTo>
                  <a:pt x="0" y="819745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2788816"/>
            <a:ext cx="14288" cy="819745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2974851" y="2906167"/>
            <a:ext cx="212191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974851" y="3147864"/>
            <a:ext cx="212191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Products · 12 Languages · ~4 Billion Speakers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0881" y="3608561"/>
            <a:ext cx="4713238" cy="819745"/>
          </a:xfrm>
          <a:custGeom>
            <a:avLst/>
            <a:gdLst/>
            <a:ahLst/>
            <a:cxnLst/>
            <a:rect l="l" t="t" r="r" b="b"/>
            <a:pathLst>
              <a:path w="4713238" h="819745">
                <a:moveTo>
                  <a:pt x="0" y="0"/>
                </a:moveTo>
                <a:lnTo>
                  <a:pt x="4713238" y="0"/>
                </a:lnTo>
                <a:lnTo>
                  <a:pt x="4713238" y="778655"/>
                </a:lnTo>
                <a:arcTo hR="41090" wR="41090" stAng="0" swAng="5400000"/>
                <a:lnTo>
                  <a:pt x="41090" y="819745"/>
                </a:lnTo>
                <a:arcTo hR="41090" wR="41090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881" y="3608561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618232" y="3725912"/>
            <a:ext cx="44785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18232" y="3967609"/>
            <a:ext cx="44785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&amp; Strategic Partners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A1ELOS Assessoria e Consultoria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7519" y="4542383"/>
            <a:ext cx="517996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</a:t>
            </a:r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A1ELOS Assessoria e Consultoria — All rights reserved. August 1,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2026-08-02T14:18:06Z</dcterms:created>
  <dcterms:modified xsi:type="dcterms:W3CDTF">2026-08-02T14:18:06Z</dcterms:modified>
</cp:coreProperties>
</file>