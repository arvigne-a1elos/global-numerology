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7226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A1ELOS Numerologia Global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70844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ciência dos números aplicada ao seu sucesso.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91760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A9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Empresarial para Investidores e Parceiros</a:t>
            </a:r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01 de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02952"/>
            <a:ext cx="992088" cy="174947"/>
          </a:xfrm>
          <a:prstGeom prst="roundRect">
            <a:avLst>
              <a:gd name="adj" fmla="val 2212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65175" y="437480"/>
            <a:ext cx="1311176" cy="1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A EMPRESA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615330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A1ELOS Assessoria e Consultoria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96119" y="1115616"/>
            <a:ext cx="4722763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Somos uma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holding de tecnologia e conhecimento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voltada à numerologia de alta performance. Nossa plataforma global integra tradição milenar com Inteligência Artificial, entregando análises precisas, personalizadas e escaláveis para indivíduos, famílias e corporações em todo o mundo.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96119" y="1888778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6000" y="2008659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 Produtos e Serviços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6000" y="2244700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completo e especializado, do mapa individual ao bônus corporativo.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6119" y="2625105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6000" y="2744986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 Idiomas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6000" y="2981027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totalmente localizada para os principais mercados do planeta.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9" y="3361432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6000" y="3481313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~4 Bilhões de Falantes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6000" y="3717354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 potencial gigantesco, cobrindo os maiores idiomas nativos do mundo.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6119" y="4097759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6000" y="4217640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+ Tradição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6000" y="4453682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Artificial aplicada à análise numerológica milenar.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4710"/>
            <a:ext cx="1745605" cy="191839"/>
          </a:xfrm>
          <a:prstGeom prst="roundRect">
            <a:avLst>
              <a:gd name="adj" fmla="val 2211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1872" y="452586"/>
            <a:ext cx="20512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CREDIBILIDADE INTERNACIONAL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1495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Reconhecimento Global Verificado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405185" y="1214661"/>
            <a:ext cx="3680668" cy="3514130"/>
          </a:xfrm>
          <a:prstGeom prst="roundRect">
            <a:avLst>
              <a:gd name="adj" fmla="val 2587"/>
            </a:avLst>
          </a:prstGeom>
          <a:solidFill>
            <a:srgbClr val="C9A94E"/>
          </a:solidFill>
          <a:ln/>
        </p:spPr>
      </p:sp>
      <p:sp>
        <p:nvSpPr>
          <p:cNvPr id="6" name="Text 4"/>
          <p:cNvSpPr/>
          <p:nvPr/>
        </p:nvSpPr>
        <p:spPr>
          <a:xfrm>
            <a:off x="531391" y="1327100"/>
            <a:ext cx="342825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DUNS Number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1391" y="1636812"/>
            <a:ext cx="3428256" cy="15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942242668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531391" y="3327574"/>
            <a:ext cx="342825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Dun &amp; Bradstreet — Identificador Universal de Credibilidade Empresarial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07756" y="1315864"/>
            <a:ext cx="4344814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DUNS Number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emitido pela Dun &amp; Bradstreet (D&amp;B) é o padrão global de identificação empresarial confiável, reconhecido por governos, corporações e instituições financeiras em mais de 200 países. Possuir este número posiciona a A1ELOS no mais alto nível de credibilidade institucional.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55083" y="2401007"/>
            <a:ext cx="189384" cy="1893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18000" y="2397100"/>
            <a:ext cx="393456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Credibilidade verificada globalmente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083" y="3008523"/>
            <a:ext cx="189384" cy="1893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8000" y="3004617"/>
            <a:ext cx="393456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Transparência em transações internacionais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5083" y="3616040"/>
            <a:ext cx="189384" cy="1893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8000" y="3612133"/>
            <a:ext cx="393456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Validade para homologações B2B e contratos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55083" y="4223556"/>
            <a:ext cx="189384" cy="1893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18000" y="4219649"/>
            <a:ext cx="393456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Suporte a joint ventures transfronteiriças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981"/>
            <a:ext cx="644798" cy="161479"/>
          </a:xfrm>
          <a:prstGeom prst="roundRect">
            <a:avLst>
              <a:gd name="adj" fmla="val 2212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59891" y="424830"/>
            <a:ext cx="974452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MERCADO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86308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 Mercado em Expansão Acelerada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19" y="1038151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segmento global de numerologia e espiritualidade digital está entre os de maior crescimento na economia da experiência. A convergência com Inteligência Artificial amplia exponencialmente o potencial de monetização e escala.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5145"/>
            <a:ext cx="4787280" cy="314563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568" y="1515145"/>
            <a:ext cx="3105001" cy="7845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25269" y="1635696"/>
            <a:ext cx="28067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CAGR 6%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25269" y="1881485"/>
            <a:ext cx="280675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anual do mercado global de astrologia/numerologia até 2035.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568" y="2379390"/>
            <a:ext cx="3105001" cy="7845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25269" y="2499940"/>
            <a:ext cx="28067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CAGR 20%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725269" y="2745730"/>
            <a:ext cx="280675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 de aplicativos de IA e astrologia — o de maior crescimento.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7568" y="3243635"/>
            <a:ext cx="3105001" cy="7845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25269" y="3364185"/>
            <a:ext cx="28067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CAGR 12,5%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725269" y="3609975"/>
            <a:ext cx="280675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anual do mercado norte-americano isolado.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9352"/>
            <a:ext cx="1521842" cy="198462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448494"/>
            <a:ext cx="1822326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PORTFÓLIO DE PRODUTOS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5960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 Produtos e Serviços Especializados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245022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relatório individual de entrada ao bônus corporativo premium, o portfólio da A1ELOS cobre toda a jornada do cliente, com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ticket médio de R$ 30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entrega 100% digital — sem estoque, sem logística.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2217"/>
            <a:ext cx="1151409" cy="11514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084165"/>
            <a:ext cx="261684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Mapas e Análises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6119" y="3360539"/>
            <a:ext cx="2616845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Express — R$8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Vida/Ano — R$8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Completo — R$17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do Casal — R$44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Família Premium — R$98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503" y="1782217"/>
            <a:ext cx="1151409" cy="11514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3503" y="3084165"/>
            <a:ext cx="26169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Validações e Nomes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263503" y="3360539"/>
            <a:ext cx="2616919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IA de Nomes — R$17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Nome de Urna — R$26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Nome Artístico — R$35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Nome de Bebê — R$35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para Negócio/Produto — R$44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962" y="1782217"/>
            <a:ext cx="1151409" cy="11514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0962" y="3084165"/>
            <a:ext cx="26169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Ferramentas Especializadas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030962" y="3360539"/>
            <a:ext cx="2616919" cy="1373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Eleitoral — R$26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do Imóvel — R$26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Calendário Mensal Energético — R$26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Assinaturas — R$35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Bônus Coletivo/Empresarial — Sob consulta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91964" cy="107603"/>
          </a:xfrm>
          <a:prstGeom prst="roundRect">
            <a:avLst>
              <a:gd name="adj" fmla="val 2213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964183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GLOBAL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 Idiomas · ~4 Bilhões de Falantes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6185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A1ELOS opera com plena localização linguística e monetária, tornando-se uma das poucas plataformas de numerologia com cobertura verdadeiramente global. Os preços são adaptados à moeda forte de cada país, maximizando conversão e percepção de valor local.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96107"/>
            <a:ext cx="8151763" cy="45649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00124"/>
            <a:ext cx="1196206" cy="141387"/>
          </a:xfrm>
          <a:prstGeom prst="roundRect">
            <a:avLst>
              <a:gd name="adj" fmla="val 22109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3980929" y="428030"/>
            <a:ext cx="1541785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DIFERENCIAIS COMPETITIVOS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925119" y="565919"/>
            <a:ext cx="4722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a A1ELOS Lidera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948184"/>
            <a:ext cx="4722763" cy="9030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0689" y="1017910"/>
            <a:ext cx="111621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027661" y="1320254"/>
            <a:ext cx="451767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Escalabilidade Linguística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027661" y="1502197"/>
            <a:ext cx="4517678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 10x maior que plataformas restritas ao português ou inglês, atingindo populações subatendidas globalmente.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12218"/>
            <a:ext cx="4722763" cy="9030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30689" y="1981944"/>
            <a:ext cx="111621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4027661" y="2284288"/>
            <a:ext cx="451767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Aplicada à Numerologia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027661" y="2466231"/>
            <a:ext cx="4517678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Artificial para sugestões de nomes e análises personalizadas — segmento que cresce 20% ao ano.</a:t>
            </a:r>
            <a:endParaRPr lang="en-US" sz="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876252"/>
            <a:ext cx="4722763" cy="9030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30689" y="2945978"/>
            <a:ext cx="111621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4027661" y="3248323"/>
            <a:ext cx="451767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Foco B2B Credenciado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027661" y="3430265"/>
            <a:ext cx="4517678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Bônus Corporativo respaldado institucionalmente pelo DUNS 942242668, abrindo portas para contratos empresariais de alto valor.</a:t>
            </a:r>
            <a:endParaRPr lang="en-US" sz="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40287"/>
            <a:ext cx="4722763" cy="90301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30689" y="3910013"/>
            <a:ext cx="111621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4027661" y="4212357"/>
            <a:ext cx="451767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Baixo Custo Marginal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027661" y="4394299"/>
            <a:ext cx="4517678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100% digital em PDF — sem estoque, sem logística, com margens excepcionais e escalabilidade imediata.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51049"/>
            <a:ext cx="1394892" cy="215354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93539"/>
            <a:ext cx="16819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NEGÓCIO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2310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Três Frentes de Receita Complementares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7869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A1ELOS estrutura sua geração de valor em três pilares que se reforçam mutuamente, garantindo diversificação de receita e resiliência financeira em todos os ciclos de mercado.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191792"/>
            <a:ext cx="2622724" cy="2300660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640" y="2338313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455218"/>
            <a:ext cx="191319" cy="1913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2640" y="290534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B2C — Venda Direta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3211860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Relatórios personalizados vendidos diretamente ao consumidor final. Ticket acessível, alta recorrência e alcance global via plataforma digital multilíngue.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0601" y="2191792"/>
            <a:ext cx="2622724" cy="2300660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7122" y="2338313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455218"/>
            <a:ext cx="191319" cy="1913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7122" y="290534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B2B — Bônus Corporativo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07122" y="3211860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Pacotes coletivos para empresas, redes de RH e equipes de marketing. Valores sob consulta, com descontos progressivos por volume e contratos recorrentes.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083" y="2191792"/>
            <a:ext cx="2622724" cy="2300660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1605" y="2338313"/>
            <a:ext cx="425276" cy="425276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455218"/>
            <a:ext cx="191319" cy="1913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1605" y="290534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Publicidade Geolocalizada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171605" y="3211860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Banners segmentados por país, continente ou alcance mundial. Contratos fixos ou por campanha, com possibilidade de renovação anual garantida.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4532"/>
            <a:ext cx="1241971" cy="195114"/>
          </a:xfrm>
          <a:prstGeom prst="roundRect">
            <a:avLst>
              <a:gd name="adj" fmla="val 2212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463004"/>
            <a:ext cx="1545134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MÍDIA E PUBLICIDADE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615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Tabela de Investimento em Mídia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242194"/>
            <a:ext cx="815176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espaços publicitários da A1ELOS são segmentados geograficamente e oferecem condições diferenciadas para contratos fixos e campanhas temporárias, com atualização anual assegurada contratualmente. Uma oportunidade única de impacto em audiências segmentadas por interesse em bem-estar e autoconhecimento.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1960959"/>
            <a:ext cx="8151763" cy="1949797"/>
          </a:xfrm>
          <a:prstGeom prst="roundRect">
            <a:avLst>
              <a:gd name="adj" fmla="val 276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119" y="2509093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858914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208734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558555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1104" y="1965722"/>
            <a:ext cx="2442642" cy="543371"/>
          </a:xfrm>
          <a:custGeom>
            <a:avLst/>
            <a:gdLst/>
            <a:ahLst/>
            <a:cxnLst/>
            <a:rect l="l" t="t" r="r" b="b"/>
            <a:pathLst>
              <a:path w="2442642" h="543371">
                <a:moveTo>
                  <a:pt x="44967" y="0"/>
                </a:moveTo>
                <a:lnTo>
                  <a:pt x="2442642" y="0"/>
                </a:lnTo>
                <a:lnTo>
                  <a:pt x="2442642" y="543371"/>
                </a:lnTo>
                <a:lnTo>
                  <a:pt x="0" y="543371"/>
                </a:lnTo>
                <a:lnTo>
                  <a:pt x="0" y="44967"/>
                </a:lnTo>
                <a:arcTo hR="44967" wR="44967" stAng="10800000" swAng="5400000"/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12" name="Text 10"/>
          <p:cNvSpPr/>
          <p:nvPr/>
        </p:nvSpPr>
        <p:spPr>
          <a:xfrm>
            <a:off x="629543" y="2040285"/>
            <a:ext cx="26429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Segmentação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43746" y="1965722"/>
            <a:ext cx="1628403" cy="543371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4" name="Text 12"/>
          <p:cNvSpPr/>
          <p:nvPr/>
        </p:nvSpPr>
        <p:spPr>
          <a:xfrm>
            <a:off x="3072185" y="2040285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Banner Fixo/mês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149" y="1965722"/>
            <a:ext cx="1628403" cy="543371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6" name="Text 14"/>
          <p:cNvSpPr/>
          <p:nvPr/>
        </p:nvSpPr>
        <p:spPr>
          <a:xfrm>
            <a:off x="4700588" y="2040285"/>
            <a:ext cx="137152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Banner Temporário/mês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0552" y="1965722"/>
            <a:ext cx="1221284" cy="543371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8" name="Text 16"/>
          <p:cNvSpPr/>
          <p:nvPr/>
        </p:nvSpPr>
        <p:spPr>
          <a:xfrm>
            <a:off x="6328990" y="2040285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Exposição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21835" y="1965722"/>
            <a:ext cx="1221284" cy="543371"/>
          </a:xfrm>
          <a:custGeom>
            <a:avLst/>
            <a:gdLst/>
            <a:ahLst/>
            <a:cxnLst/>
            <a:rect l="l" t="t" r="r" b="b"/>
            <a:pathLst>
              <a:path w="1221284" h="543371">
                <a:moveTo>
                  <a:pt x="0" y="0"/>
                </a:moveTo>
                <a:lnTo>
                  <a:pt x="1176317" y="0"/>
                </a:lnTo>
                <a:arcTo hR="44967" wR="44967" stAng="16200000" swAng="5400000"/>
                <a:lnTo>
                  <a:pt x="1221284" y="543371"/>
                </a:lnTo>
                <a:lnTo>
                  <a:pt x="0" y="543371"/>
                </a:lnTo>
                <a:lnTo>
                  <a:pt x="0" y="0"/>
                </a:lnTo>
                <a:close/>
              </a:path>
            </a:pathLst>
          </a:custGeom>
          <a:solidFill>
            <a:srgbClr val="C9A94E"/>
          </a:solidFill>
          <a:ln/>
        </p:spPr>
      </p:sp>
      <p:sp>
        <p:nvSpPr>
          <p:cNvPr id="20" name="Text 18"/>
          <p:cNvSpPr/>
          <p:nvPr/>
        </p:nvSpPr>
        <p:spPr>
          <a:xfrm>
            <a:off x="7550274" y="2040285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Renovação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543" y="2586038"/>
            <a:ext cx="26429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País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72185" y="2586038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R$ 800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588" y="2586038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8990" y="2586038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Contínua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50274" y="2586038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543" y="2935858"/>
            <a:ext cx="26429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Continente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72185" y="2935858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R$ 1.800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0588" y="2935858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R$ 1.200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8990" y="2935858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Contínua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50274" y="2935858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543" y="3285679"/>
            <a:ext cx="26429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Mundo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72185" y="3285679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R$ 3.500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588" y="3285679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R$ 2.500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8990" y="3285679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Contínua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50274" y="3285679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543" y="3635499"/>
            <a:ext cx="26429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Patrocínio Exclusivo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72185" y="3635499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R$ 6.000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0588" y="3635499"/>
            <a:ext cx="18287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R$ 4.500/campanha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28990" y="3635499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50274" y="3635499"/>
            <a:ext cx="14216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6119" y="4041725"/>
            <a:ext cx="8151763" cy="677168"/>
          </a:xfrm>
          <a:prstGeom prst="roundRect">
            <a:avLst>
              <a:gd name="adj" fmla="val 7969"/>
            </a:avLst>
          </a:prstGeom>
          <a:solidFill>
            <a:srgbClr val="DADBF1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57" y="4223147"/>
            <a:ext cx="160586" cy="128439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13581" y="4190181"/>
            <a:ext cx="76058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Banners temporários são ideais para campanhas de 30, 60 ou 90 dias. Banners fixos garantem maior presença de marca e têm preço proporcional ao tempo de exposição contínua.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981"/>
            <a:ext cx="1222102" cy="161479"/>
          </a:xfrm>
          <a:prstGeom prst="roundRect">
            <a:avLst>
              <a:gd name="adj" fmla="val 2212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59891" y="424830"/>
            <a:ext cx="1551756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PROJEÇÕES FINANCEIRAS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86308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 1 — Cenário Conservador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19" y="1038151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projeções abaixo consideram crescimento orgânico sem investimento em tráfego pago. Com campanhas de mídia ativa, o cenário otimista aponta para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até R$ 1.000.000 no primeiro ano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5145"/>
            <a:ext cx="4787280" cy="314563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568" y="1515145"/>
            <a:ext cx="3105001" cy="7845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25269" y="1635696"/>
            <a:ext cx="28067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300–800 Visitantes/dia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25269" y="1881485"/>
            <a:ext cx="280675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orgânico projetado sem investimento em mídia paga.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568" y="2379390"/>
            <a:ext cx="3105001" cy="7845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25269" y="2499940"/>
            <a:ext cx="28067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3–12 Vendas/dia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725269" y="2745730"/>
            <a:ext cx="280675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 conversão conservadora sobre visitantes orgânicos.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7568" y="3243635"/>
            <a:ext cx="3105001" cy="7845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25269" y="3364185"/>
            <a:ext cx="28067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R$1M Otimista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725269" y="3609975"/>
            <a:ext cx="280675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Potencial com tráfego pago e parcerias estratégicas ativas.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435"/>
            <a:ext cx="1323380" cy="185142"/>
          </a:xfrm>
          <a:prstGeom prst="roundRect">
            <a:avLst>
              <a:gd name="adj" fmla="val 2211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69193" y="447973"/>
            <a:ext cx="1634430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LONGO PRAZO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38398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Construindo um Ecossistema Global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176114"/>
            <a:ext cx="81517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A1ELOS é projetada para crescimento sustentado de longo prazo, com metas ambiciosas que consolidam liderança regional e global ao longo de duas décadas de operação e expansão contínua.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656234"/>
            <a:ext cx="1018952" cy="677987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07" y="1909539"/>
            <a:ext cx="171301" cy="1713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36886" y="1778050"/>
            <a:ext cx="688917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 1 — Lançamento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36886" y="2031206"/>
            <a:ext cx="68891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R$ 33K a R$ 130K (conservador) · Até R$ 1M com tráfego pago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575941" y="2328267"/>
            <a:ext cx="7011070" cy="7144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2395091"/>
            <a:ext cx="2037904" cy="677987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9420" y="2648396"/>
            <a:ext cx="171301" cy="1713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5838" y="2516907"/>
            <a:ext cx="587022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 5 — Consolidação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655838" y="2770063"/>
            <a:ext cx="58702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R$ 500.000 a R$ 1,5 milhão · Marca consolidada nos principais mercados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594893" y="3067124"/>
            <a:ext cx="5992118" cy="7144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6" name="Shape 12"/>
          <p:cNvSpPr/>
          <p:nvPr/>
        </p:nvSpPr>
        <p:spPr>
          <a:xfrm>
            <a:off x="496119" y="3133948"/>
            <a:ext cx="3056855" cy="677987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8858" y="3387254"/>
            <a:ext cx="171301" cy="1713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74790" y="3255764"/>
            <a:ext cx="485127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 10 — Liderança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674790" y="3508921"/>
            <a:ext cx="48512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 milhões a R$ 8 milhões · Dominância em mercados asiáticos e ocidentais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613845" y="3805982"/>
            <a:ext cx="4973166" cy="7144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21" name="Shape 16"/>
          <p:cNvSpPr/>
          <p:nvPr/>
        </p:nvSpPr>
        <p:spPr>
          <a:xfrm>
            <a:off x="496119" y="3872805"/>
            <a:ext cx="4075881" cy="859185"/>
          </a:xfrm>
          <a:prstGeom prst="roundRect">
            <a:avLst>
              <a:gd name="adj" fmla="val 59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48371" y="4216673"/>
            <a:ext cx="171301" cy="17130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93816" y="3994621"/>
            <a:ext cx="383225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 20 — Ecossistema Global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693816" y="4247778"/>
            <a:ext cx="383225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R$ 15 milhões a R$ 40 milhões · Referência mundial em consultoria numerológica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2403"/>
            <a:ext cx="1544910" cy="174947"/>
          </a:xfrm>
          <a:prstGeom prst="roundRect">
            <a:avLst>
              <a:gd name="adj" fmla="val 22122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65175" y="446931"/>
            <a:ext cx="1863998" cy="1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 DE PARCERIA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624780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Vamos Crescer Juntos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96119" y="1125066"/>
            <a:ext cx="472276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A1ELOS oferece múltiplos pontos de entrada para investidores, parceiros de mídia e players estratégicos que desejam se posicionar na interseção entre tecnologia, bem-estar e cultura global.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31243"/>
            <a:ext cx="230312" cy="23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3409" y="1770831"/>
            <a:ext cx="437547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Mídia e Publicidade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43409" y="2006873"/>
            <a:ext cx="437547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Espaços geolocalizados com audiências qualificadas e altamente engajadas, segmentadas por interesse em autoconhecimento e bem-estar digital.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27995"/>
            <a:ext cx="230312" cy="2303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3409" y="2567583"/>
            <a:ext cx="437547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Expansão B2B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43409" y="2803624"/>
            <a:ext cx="437547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Bônus Corporativo para redes de RH e Marketing, com pacotes escaláveis e descontos progressivos para grandes volumes.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324746"/>
            <a:ext cx="230312" cy="23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3409" y="3364334"/>
            <a:ext cx="437547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Joint Ventures Internacionais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843409" y="3600376"/>
            <a:ext cx="437547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Parcerias transfronteiriças facilitadas pelo DUNS 942242668, garantindo transparência, credibilidade e conformidade institucional global.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121497"/>
            <a:ext cx="230312" cy="2303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3409" y="4161086"/>
            <a:ext cx="437547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Co-desenvolvimento de IA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843409" y="4397127"/>
            <a:ext cx="437547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conjunto de novas ferramentas de Inteligência Artificial aplicadas à numerologia, expandindo o portfólio e liderança tecnológica.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3267"/>
            <a:ext cx="4722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A1ELOS Assessoria e Consultoria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1322189"/>
            <a:ext cx="4722763" cy="154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00" b="1" i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ciência dos números aplicada ao seu sucesso.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96119" y="3050902"/>
            <a:ext cx="4722763" cy="14288"/>
          </a:xfrm>
          <a:prstGeom prst="roundRect">
            <a:avLst>
              <a:gd name="adj" fmla="val 4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3208511"/>
            <a:ext cx="4722763" cy="1511647"/>
          </a:xfrm>
          <a:prstGeom prst="roundRect">
            <a:avLst>
              <a:gd name="adj" fmla="val 332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3213274"/>
            <a:ext cx="2356619" cy="839242"/>
          </a:xfrm>
          <a:custGeom>
            <a:avLst/>
            <a:gdLst/>
            <a:ahLst/>
            <a:cxnLst/>
            <a:rect l="l" t="t" r="r" b="b"/>
            <a:pathLst>
              <a:path w="2356619" h="839242">
                <a:moveTo>
                  <a:pt x="41866" y="0"/>
                </a:moveTo>
                <a:lnTo>
                  <a:pt x="2356619" y="0"/>
                </a:lnTo>
                <a:lnTo>
                  <a:pt x="2356619" y="839242"/>
                </a:lnTo>
                <a:lnTo>
                  <a:pt x="0" y="839242"/>
                </a:lnTo>
                <a:lnTo>
                  <a:pt x="0" y="41866"/>
                </a:lnTo>
                <a:arcTo hR="41866" wR="4186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620464" y="3332857"/>
            <a:ext cx="2117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DUNS Number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0464" y="3580209"/>
            <a:ext cx="211745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942242668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857500" y="3213274"/>
            <a:ext cx="2356619" cy="839242"/>
          </a:xfrm>
          <a:custGeom>
            <a:avLst/>
            <a:gdLst/>
            <a:ahLst/>
            <a:cxnLst/>
            <a:rect l="l" t="t" r="r" b="b"/>
            <a:pathLst>
              <a:path w="2356619" h="839242">
                <a:moveTo>
                  <a:pt x="0" y="0"/>
                </a:moveTo>
                <a:lnTo>
                  <a:pt x="2314753" y="0"/>
                </a:lnTo>
                <a:arcTo hR="41866" wR="41866" stAng="16200000" swAng="5400000"/>
                <a:lnTo>
                  <a:pt x="2356619" y="839242"/>
                </a:lnTo>
                <a:lnTo>
                  <a:pt x="0" y="839242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0" y="3213274"/>
            <a:ext cx="14288" cy="839242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2" name="Text 9"/>
          <p:cNvSpPr/>
          <p:nvPr/>
        </p:nvSpPr>
        <p:spPr>
          <a:xfrm>
            <a:off x="2977083" y="3332857"/>
            <a:ext cx="2117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Investidores e Parceiros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977083" y="3580209"/>
            <a:ext cx="211745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em contato para apresentação completa e proposta personalizada.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0881" y="4052515"/>
            <a:ext cx="4713238" cy="662880"/>
          </a:xfrm>
          <a:custGeom>
            <a:avLst/>
            <a:gdLst/>
            <a:ahLst/>
            <a:cxnLst/>
            <a:rect l="l" t="t" r="r" b="b"/>
            <a:pathLst>
              <a:path w="4713238" h="662880">
                <a:moveTo>
                  <a:pt x="0" y="0"/>
                </a:moveTo>
                <a:lnTo>
                  <a:pt x="4713238" y="0"/>
                </a:lnTo>
                <a:lnTo>
                  <a:pt x="4713238" y="621015"/>
                </a:lnTo>
                <a:arcTo hR="41866" wR="41866" stAng="0" swAng="5400000"/>
                <a:lnTo>
                  <a:pt x="41866" y="662880"/>
                </a:lnTo>
                <a:arcTo hR="41866" wR="41866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5" name="Shape 12"/>
          <p:cNvSpPr/>
          <p:nvPr/>
        </p:nvSpPr>
        <p:spPr>
          <a:xfrm>
            <a:off x="500881" y="4052515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6" name="Text 13"/>
          <p:cNvSpPr/>
          <p:nvPr/>
        </p:nvSpPr>
        <p:spPr>
          <a:xfrm>
            <a:off x="620464" y="4172099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©</a:t>
            </a:r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A1ELOS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0464" y="4419451"/>
            <a:ext cx="447407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direitos reservados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2026-08-02T14:10:20Z</dcterms:created>
  <dcterms:modified xsi:type="dcterms:W3CDTF">2026-08-02T14:10:20Z</dcterms:modified>
</cp:coreProperties>
</file>